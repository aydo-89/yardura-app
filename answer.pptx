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-1-2.jpg" ContentType="image/jpg"/>
  <Override PartName="/ppt/media/image-10-2.svg" ContentType="image/svg+xml"/>
  <Override PartName="/ppt/media/image-10-4.svg" ContentType="image/svg+xml"/>
  <Override PartName="/ppt/media/image-10-6.svg" ContentType="image/svg+xml"/>
  <Override PartName="/ppt/media/image-10-8.svg" ContentType="image/svg+xml"/>
  <Override PartName="/ppt/media/image-13-2.svg" ContentType="image/svg+xml"/>
  <Override PartName="/ppt/media/image-13-4.svg" ContentType="image/svg+xml"/>
  <Override PartName="/ppt/media/image-13-6.svg" ContentType="image/svg+xml"/>
  <Override PartName="/ppt/media/image-3-2.svg" ContentType="image/svg+xml"/>
  <Override PartName="/ppt/media/image-3-4.svg" ContentType="image/svg+xml"/>
  <Override PartName="/ppt/media/image-3-6.svg" ContentType="image/svg+xml"/>
  <Override PartName="/ppt/media/image-3-8.svg" ContentType="image/svg+xml"/>
  <Override PartName="/ppt/media/image-6-2.svg" ContentType="image/svg+xml"/>
  <Override PartName="/ppt/media/image-6-4.svg" ContentType="image/svg+xml"/>
  <Override PartName="/ppt/media/image-6-6.svg" ContentType="image/svg+xml"/>
  <Override PartName="/ppt/media/image-6-8.svg" ContentType="image/svg+xml"/>
  <Override PartName="/ppt/media/image-7-10.svg" ContentType="image/svg+xml"/>
  <Override PartName="/ppt/media/image-7-12.svg" ContentType="image/svg+xml"/>
  <Override PartName="/ppt/media/image-7-2.svg" ContentType="image/svg+xml"/>
  <Override PartName="/ppt/media/image-7-4.svg" ContentType="image/svg+xml"/>
  <Override PartName="/ppt/media/image-7-6.svg" ContentType="image/svg+xml"/>
  <Override PartName="/ppt/media/image-7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Expenditures</c:v>
                </c:pt>
              </c:strCache>
            </c:strRef>
          </c:tx>
          <c:spPr>
            <a:solidFill>
              <a:srgbClr val="1F6BB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2B5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Food &amp; Treats</c:v>
                  </c:pt>
                  <c:pt idx="1">
                    <c:v>Supplies &amp; OTC</c:v>
                  </c:pt>
                  <c:pt idx="2">
                    <c:v>Vet Care</c:v>
                  </c:pt>
                  <c:pt idx="3">
                    <c:v>Other Services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65.8</c:v>
                </c:pt>
                <c:pt idx="1">
                  <c:v>33.3</c:v>
                </c:pt>
                <c:pt idx="2">
                  <c:v>39.8</c:v>
                </c:pt>
                <c:pt idx="3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2B5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Categories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USD Billions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COGS</c:v>
                </c:pt>
              </c:strCache>
            </c:strRef>
          </c:tx>
          <c:spPr>
            <a:solidFill>
              <a:srgbClr val="1F6BB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2B5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WasteWell System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002B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2B5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WasteWell System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2B5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Product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USD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6BBA"/>
            </a:solidFill>
            <a:ln w="25400" cap="flat">
              <a:solidFill>
                <a:srgbClr val="1F6BB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2B5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6BBA"/>
              </a:solidFill>
              <a:ln w="9525" cap="flat">
                <a:solidFill>
                  <a:srgbClr val="1F6BB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37.5</c:v>
                </c:pt>
                <c:pt idx="1">
                  <c:v>80</c:v>
                </c:pt>
                <c:pt idx="2">
                  <c:v>150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002B5B"/>
            </a:solidFill>
            <a:ln w="25400" cap="flat">
              <a:solidFill>
                <a:srgbClr val="002B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2B5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2B5B"/>
              </a:solidFill>
              <a:ln w="9525" cap="flat">
                <a:solidFill>
                  <a:srgbClr val="002B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55</c:v>
                </c:pt>
                <c:pt idx="2">
                  <c:v>110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2B5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Fiscal 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USD (k)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https://americanpetproducts.org/industry-trends-and-stats#:~:text=Total%20U" TargetMode="External"/><Relationship Id="rId3" Type="http://schemas.openxmlformats.org/officeDocument/2006/relationships/hyperlink" Target="https://americanpetproducts.org/industry-trends-and-stats#:~:text=Supplies%2C%20Live%20Animals%20%26%20OTC,Medicine" TargetMode="External"/><Relationship Id="rId4" Type="http://schemas.openxmlformats.org/officeDocument/2006/relationships/hyperlink" Target="https://americanpetproducts.org/industry-trends-and-stats#:~:text=Number%20of%20U,Own%20a%20Pet" TargetMode="External"/><Relationship Id="rId5" Type="http://schemas.openxmlformats.org/officeDocument/2006/relationships/hyperlink" Target="https://www.gminsights.com/industry-analysis/outdoor-furniture-market#:~:text=The%20global%20outdoor%20furniture%20market,the%20expansion%20of%20the%20market" TargetMode="External"/><Relationship Id="rId6" Type="http://schemas.openxmlformats.org/officeDocument/2006/relationships/hyperlink" Target="&#12304;697940263318684&#8224;screenshot&#12305;" TargetMode="External"/><Relationship Id="rId7" Type="http://schemas.openxmlformats.org/officeDocument/2006/relationships/hyperlink" Target="https://www.thezebra.com/resources/research/pet-ownership-statistics/#:~:text=According%20to%20the%20Insurance%20Information,Pet%20Products%20Association%2C%20and%20Statista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hyperlink" Target="https://www.gminsights.com/industry-analysis/pet-accessories-market#:~:text=Pet%20Accessories%20Market%20Size" TargetMode="External"/><Relationship Id="rId10" Type="http://schemas.openxmlformats.org/officeDocument/2006/relationships/hyperlink" Target="https://www.gminsights.com/industry-analysis/pet-accessories-market#:~:text=Based%20on%20pet%20type%2C%20the,2034" TargetMode="External"/><Relationship Id="rId11" Type="http://schemas.openxmlformats.org/officeDocument/2006/relationships/hyperlink" Target="https://www.gminsights.com/industry-analysis/pet-accessories-market#:~:text=,sustainability%20and%20indicates%20decreasing%20carbon" TargetMode="External"/><Relationship Id="rId12" Type="http://schemas.openxmlformats.org/officeDocument/2006/relationships/hyperlink" Target="eakstonegroup.com/wp-content/uploads/2022/06/Peakstone_Pet_Report_2022_Q2-1.pdf#:~:text=Millennial%20Support%20In%202019%20Millennials,Millennials%20are%20the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https://americanpetproducts.org/industry-trends-and-stats#:~:text=Total%20U" TargetMode="External"/><Relationship Id="rId2" Type="http://schemas.openxmlformats.org/officeDocument/2006/relationships/hyperlink" Target="https://americanpetproducts.org/industry-trends-and-stats#:~:text=Supplies%2C%20Live%20Animals%20%26%20OTC,Medicine" TargetMode="External"/><Relationship Id="rId3" Type="http://schemas.openxmlformats.org/officeDocument/2006/relationships/hyperlink" Target="https://americanpetproducts.org/industry-trends-and-stats#:~:text=Number%20of%20U,Own%20a%20Pet" TargetMode="External"/><Relationship Id="rId4" Type="http://schemas.openxmlformats.org/officeDocument/2006/relationships/hyperlink" Target="https://www.gminsights.com/industry-analysis/outdoor-furniture-market#:~:text=The%20global%20outdoor%20furniture%20market,the%20expansion%20of%20the%20market" TargetMode="External"/><Relationship Id="rId5" Type="http://schemas.openxmlformats.org/officeDocument/2006/relationships/hyperlink" Target="&#12304;697940263318684&#8224;screenshot&#12305;" TargetMode="External"/><Relationship Id="rId6" Type="http://schemas.openxmlformats.org/officeDocument/2006/relationships/hyperlink" Target="https://www.thezebra.com/resources/research/pet-ownership-statistics/#:~:text=According%20to%20the%20Insurance%20Information,Pet%20Products%20Association%2C%20and%20Statista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americanpetproducts.org/industry-trends-and-stats#:~:text=Number%20of%20U,Own%20a%20Pet" TargetMode="External"/><Relationship Id="rId2" Type="http://schemas.openxmlformats.org/officeDocument/2006/relationships/hyperlink" Target="https://www.gminsights.com/industry-analysis/outdoor-furniture-market#:~:text=The%20global%20outdoor%20furniture%20market,the%20expansion%20of%20the%20market" TargetMode="External"/><Relationship Id="rId3" Type="http://schemas.openxmlformats.org/officeDocument/2006/relationships/hyperlink" Target="&#12304;697940263318684&#8224;screenshot&#12305;" TargetMode="External"/><Relationship Id="rId4" Type="http://schemas.openxmlformats.org/officeDocument/2006/relationships/hyperlink" Target="https://www.thezebra.com/resources/research/pet-ownership-statistics/#:~:text=According%20to%20the%20Insurance%20Information,Pet%20Products%20Association%2C%20and%20Statista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hyperlink" Target="https://petwastegenie.com/products/pet-genie-dog-waste-disposal-system#:~:text=The%20new%20Pet%20Genie%20dog,months%20for%20one%20medium%20dog" TargetMode="External"/><Relationship Id="rId10" Type="http://schemas.openxmlformats.org/officeDocument/2006/relationships/hyperlink" Target="https://petwastegenie.com/products/pet-genie-dog-waste-disposal-system#:~:text=,plastic%20dog%20poop%20bags%20by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petwastegenie.com/products/pet-genie-dog-waste-disposal-system#:~:text=The%20new%20Pet%20Genie%20dog,months%20for%20one%20medium%20dog" TargetMode="External"/><Relationship Id="rId2" Type="http://schemas.openxmlformats.org/officeDocument/2006/relationships/hyperlink" Target="https://petwastegenie.com/products/pet-genie-dog-waste-disposal-system#:~:text=,plastic%20dog%20poop%20bags%20by" TargetMode="External"/><Relationship Id="rId3" Type="http://schemas.openxmlformats.org/officeDocument/2006/relationships/hyperlink" Target="https://www.contractmanufactureanimalproducts.com/innovative-trends-in-pet-product-development-staying-ahead-in-a-competitive-market/#:~:text=,and%20complement%20their%20home%20decor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c4dbb201-4989-4cb2-843a-cc15a25bde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4" name="Image 1" descr="/home/oai/share/images/dog_backyard.jpg">    </p:cNvPr>
          <p:cNvPicPr>
            <a:picLocks noChangeAspect="1"/>
          </p:cNvPicPr>
          <p:nvPr/>
        </p:nvPicPr>
        <p:blipFill>
          <a:blip r:embed="rId2"/>
          <a:srcRect l="16667" r="16667" t="0" b="0"/>
          <a:stretch/>
        </p:blipFill>
        <p:spPr>
          <a:xfrm>
            <a:off x="5486400" y="457200"/>
            <a:ext cx="3657600" cy="4114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463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Yardura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45720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6B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Elevating Outdoor Pet Spaces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4114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18,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Market Opportunity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0" y="118872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bins and pee posts are bargain‑bin plastic eyesores that clash with décor and break easily.</a:t>
            </a:r>
            <a:endParaRPr lang="en-US" sz="12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convenient, stylish solution exists: owners trek to the garage and inconsistent clean‑up kills lawns and plants.</a:t>
            </a:r>
            <a:endParaRPr lang="en-US" sz="12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Bargain products fail to bridge the $152B pet industry and $17B outdoor décor market—leaving a $20B+ opportunity untapped.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0" y="37490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Sweet Spot
</a:t>
            </a:r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≈30M design‑savvy pet households spend &gt;$1K on pets and $1–5K on backyard décor per refresh, creating a $20B+ overlap.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47777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2"/>
              </a:rPr>
              <a:t>[13]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3"/>
              </a:rPr>
              <a:t>[14]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4"/>
              </a:rPr>
              <a:t>[15]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5"/>
              </a:rPr>
              <a:t>[16]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[17]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7"/>
              </a:rPr>
              <a:t>[18]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Market Insights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863090" cy="2468880"/>
          </a:xfrm>
          <a:prstGeom prst="roundRect">
            <a:avLst>
              <a:gd name="adj" fmla="val 4908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94360" y="2057400"/>
            <a:ext cx="457200" cy="45720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660" y="21717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103120"/>
            <a:ext cx="85725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$49.6B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94360" y="2834640"/>
            <a:ext cx="158877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global *pet* accessories market by 2034 (CAGR 7.9%)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48890" y="1828800"/>
            <a:ext cx="1863090" cy="2468880"/>
          </a:xfrm>
          <a:prstGeom prst="roundRect">
            <a:avLst>
              <a:gd name="adj" fmla="val 4908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777490" y="2057400"/>
            <a:ext cx="457200" cy="45720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790" y="21717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71850" y="2103120"/>
            <a:ext cx="85725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2777490" y="2834640"/>
            <a:ext cx="158877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Dogs’ share of global pet accessories market (2024)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32020" y="1828800"/>
            <a:ext cx="1863090" cy="2468880"/>
          </a:xfrm>
          <a:prstGeom prst="roundRect">
            <a:avLst>
              <a:gd name="adj" fmla="val 4908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960620" y="2057400"/>
            <a:ext cx="457200" cy="45720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74920" y="21717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54980" y="2103120"/>
            <a:ext cx="85725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&gt;50%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4960620" y="2834640"/>
            <a:ext cx="158877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parents willing to pay extra for eco‑friendly gear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915150" y="1828800"/>
            <a:ext cx="1863090" cy="2468880"/>
          </a:xfrm>
          <a:prstGeom prst="roundRect">
            <a:avLst>
              <a:gd name="adj" fmla="val 4908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7143750" y="2057400"/>
            <a:ext cx="457200" cy="45720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8050" y="21717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38110" y="2103120"/>
            <a:ext cx="85725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7143750" y="2834640"/>
            <a:ext cx="158877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Z &amp; Millennials planning to add a pet within 5 years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74320" y="47777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9"/>
              </a:rPr>
              <a:t>[10]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10"/>
              </a:rPr>
              <a:t>[11]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11"/>
              </a:rPr>
              <a:t>[12]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12"/>
              </a:rPr>
              <a:t>[19]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× Pet Care: A New Market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200400" cy="2560320"/>
          </a:xfrm>
          <a:prstGeom prst="ellipse">
            <a:avLst/>
          </a:prstGeom>
          <a:solidFill>
            <a:srgbClr val="E6F2FF"/>
          </a:solidFill>
          <a:ln w="12700">
            <a:solidFill>
              <a:srgbClr val="B0C9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92024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Care
</a:t>
            </a:r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$152B pet industry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$33B supplies &amp; accessories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68M dog households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$1K/yr spent on pets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1554480"/>
            <a:ext cx="3200400" cy="2560320"/>
          </a:xfrm>
          <a:prstGeom prst="ellipse">
            <a:avLst/>
          </a:prstGeom>
          <a:solidFill>
            <a:srgbClr val="E6FFE6"/>
          </a:solidFill>
          <a:ln w="12700">
            <a:solidFill>
              <a:srgbClr val="A9D6A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017520" y="192024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Living
</a:t>
            </a:r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$9B U.S. outdoor furniture market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Yards are extensions of the home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$1–5K spent per refresh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338328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51760" y="3520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Opportunity
</a:t>
            </a:r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≈30M design‑conscious pet parents in a $20B+ yard décor × pet care sweet spot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47777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1"/>
              </a:rPr>
              <a:t>[13]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2"/>
              </a:rPr>
              <a:t>[14]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3"/>
              </a:rPr>
              <a:t>[15]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4"/>
              </a:rPr>
              <a:t>[16]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[17]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6"/>
              </a:rPr>
              <a:t>[18]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B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 25–65, mid‑ to‑high income homeowners who treat the yard as an extension of the living room. 68M U.S. dog‑owning households.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B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Psychographics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parents treat animals as family; invest in premium, design‑forward pet and patio products; follow home décor &amp; pet influencers; value sustainability.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B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703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yard clean‑up and pee training using a stylish bin with integrated scooper and dolly. Holds a week’s waste, encourages routine, and complements outdoor décor.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7777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1"/>
              </a:rPr>
              <a:t>[15]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2"/>
              </a:rPr>
              <a:t>[16]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[17]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4"/>
              </a:rPr>
              <a:t>[18]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Flagship Product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897380" cy="2011680"/>
          </a:xfrm>
          <a:prstGeom prst="roundRect">
            <a:avLst>
              <a:gd name="adj" fmla="val 4819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94360" y="2057400"/>
            <a:ext cx="457200" cy="45720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660" y="21717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606040"/>
            <a:ext cx="18059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Elegant Design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1480" y="2971800"/>
            <a:ext cx="18059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silhouette and furniture‑grade finishes elevate any patio.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37460" y="1828800"/>
            <a:ext cx="1897380" cy="2011680"/>
          </a:xfrm>
          <a:prstGeom prst="roundRect">
            <a:avLst>
              <a:gd name="adj" fmla="val 4819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766060" y="2057400"/>
            <a:ext cx="457200" cy="45720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0360" y="21717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83180" y="2606040"/>
            <a:ext cx="18059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Odor &amp; Hygiene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583180" y="2971800"/>
            <a:ext cx="18059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seal with optional charcoal filter; easy‑clean surfaces and insect‑resistant design.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09160" y="1828800"/>
            <a:ext cx="1897380" cy="2011680"/>
          </a:xfrm>
          <a:prstGeom prst="roundRect">
            <a:avLst>
              <a:gd name="adj" fmla="val 4819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937760" y="2057400"/>
            <a:ext cx="457200" cy="45720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2060" y="21717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2606040"/>
            <a:ext cx="18059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754880" y="2971800"/>
            <a:ext cx="18059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Weather‑resistant metals &amp; woods with simplified mechanics for longevity and all‑season use.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880860" y="1828800"/>
            <a:ext cx="1897380" cy="2011680"/>
          </a:xfrm>
          <a:prstGeom prst="roundRect">
            <a:avLst>
              <a:gd name="adj" fmla="val 4819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7109460" y="2057400"/>
            <a:ext cx="457200" cy="45720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23760" y="21717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26580" y="2606040"/>
            <a:ext cx="18059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System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926580" y="2971800"/>
            <a:ext cx="18059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modular scooper, dolly &amp; PetPost attachments for waste, bags and leash in one stylish unit.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65760" y="4023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&amp; Function
</a:t>
            </a:r>
            <a:pPr algn="ctr"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WasteWell system encourages daily clean‑up and pee training by making your yard’s pet corner beautiful, convenient and habit‑forming.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274320" y="47777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9"/>
              </a:rPr>
              <a:t>[6]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10"/>
              </a:rPr>
              <a:t>[7]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 &amp; Brand Identity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1508760"/>
            <a:ext cx="365760" cy="36576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216" y="1591056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WasteWell System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874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bin with integrated scooper, dolly &amp; optional PetPost organizer.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3716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520440" y="1508760"/>
            <a:ext cx="365760" cy="36576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2736" y="159105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PetPost Organizer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20440" y="1874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rail or mount with leash latch, bag dispenser &amp; treat holder.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292608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3063240"/>
            <a:ext cx="365760" cy="36576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5216" y="314553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MarkMate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02920" y="3429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Discreet pee post that trains dogs to one spot – no neon stakes.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383280" y="292608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3520440" y="3063240"/>
            <a:ext cx="365760" cy="36576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02736" y="3145536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93192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PlayPod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520440" y="3429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Weatherproof storage/play box for toys and gear.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65760" y="44805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502920" y="4617720"/>
            <a:ext cx="365760" cy="36576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5216" y="4700016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" y="4617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TreatTower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2920" y="4983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 treat station with storage &amp; dispenser.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383280" y="44805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3520440" y="4617720"/>
            <a:ext cx="365760" cy="36576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02736" y="4700016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931920" y="4617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HydrationHub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3520440" y="4983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water station with refillable bowl &amp; storage.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40080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
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400800" y="182880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
</a:t>
            </a:r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 the outdoor pet experience by merging style, durability &amp; sustainability—bridging pet care with yard décor.
</a:t>
            </a:r>
            <a:pPr indent="0" marL="0">
              <a:buNone/>
            </a:pPr>
            <a:r>
              <a:rPr lang="en-US" sz="13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
</a:t>
            </a:r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 first lifestyle brand to create furniture‑grade pet solutions for the yard, inspiring pride &amp; routine care.
</a:t>
            </a:r>
            <a:pPr indent="0" marL="0">
              <a:buNone/>
            </a:pPr>
            <a:r>
              <a:rPr lang="en-US" sz="13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Values:
</a:t>
            </a:r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excellence, longevity, sustainability &amp; customer delight.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274320" y="47777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4937760" cy="292608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1097280"/>
                <a:gridCol w="1097280"/>
                <a:gridCol w="146304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Odor Control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Aesthetics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Materials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Basic Plastic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1/5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Thin Plastic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Pet Genie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2/5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Plastic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Planter Style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3/5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Plastic/Faux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Metal Can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2/5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Thin Metal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Yardura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$199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5/5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Premium Metal/Wood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B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943600" y="12801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premium dog waste station: form &amp; function in harmony</a:t>
            </a:r>
            <a:endParaRPr lang="en-US" sz="12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Odor‑free design with gasket seal &amp; charcoal filter</a:t>
            </a:r>
            <a:endParaRPr lang="en-US" sz="12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materials built for all seasons</a:t>
            </a:r>
            <a:endParaRPr lang="en-US" sz="1200" dirty="0"/>
          </a:p>
          <a:p>
            <a:pPr marL="190500" indent="-190500">
              <a:spcAft>
                <a:spcPts val="360"/>
              </a:spcAft>
              <a:buSzPct val="100000"/>
              <a:buChar char="•"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of products encourages brand loyalty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47777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1"/>
              </a:rPr>
              <a:t>[6]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2"/>
              </a:rPr>
              <a:t>[7]</a:t>
            </a:r>
            <a:pPr indent="0" marL="0">
              <a:buNone/>
            </a:pPr>
            <a:r>
              <a:rPr lang="en-US" sz="600" u="sng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3"/>
              </a:rPr>
              <a:t>[8]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Pricing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4389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120640" y="13716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Margins
</a:t>
            </a:r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WasteWell System (bin + scooper + dolly): $199
PetPost Organizer: $49
Future modules (PlayPod, TreatTower, HydrationHub): $30–$79
</a:t>
            </a:r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 ≈$250 with attachments. Estimated COGS ~$80 per system, yielding ~68% gross margin. Early runs of ~100 units break even; profits reinvested into inventory, marketing &amp; new products.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4320" y="47777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Go‑To‑Market Strategy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851660" cy="2011680"/>
          </a:xfrm>
          <a:prstGeom prst="roundRect">
            <a:avLst>
              <a:gd name="adj" fmla="val 3951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380" y="17602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148840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Pre‑Launch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2423160"/>
            <a:ext cx="17602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research, design &amp; prototyping; build email list &amp; social community.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54580" y="1828800"/>
            <a:ext cx="182880" cy="18288"/>
          </a:xfrm>
          <a:prstGeom prst="rect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583180" y="1463040"/>
            <a:ext cx="1851660" cy="2011680"/>
          </a:xfrm>
          <a:prstGeom prst="roundRect">
            <a:avLst>
              <a:gd name="adj" fmla="val 3951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66060" y="1645920"/>
            <a:ext cx="457200" cy="45720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0360" y="17602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28900" y="2148840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628900" y="2423160"/>
            <a:ext cx="17602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Kickstarter campaign &amp; Shopify site; collect early orders &amp; feedback.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80560" y="1828800"/>
            <a:ext cx="182880" cy="18288"/>
          </a:xfrm>
          <a:prstGeom prst="rect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709160" y="1463040"/>
            <a:ext cx="1851660" cy="2011680"/>
          </a:xfrm>
          <a:prstGeom prst="roundRect">
            <a:avLst>
              <a:gd name="adj" fmla="val 3951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4892040" y="1645920"/>
            <a:ext cx="457200" cy="45720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6340" y="176022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2148840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754880" y="2423160"/>
            <a:ext cx="17602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ads, influencer partnerships, UGC content &amp; email nurture.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606540" y="1828800"/>
            <a:ext cx="182880" cy="18288"/>
          </a:xfrm>
          <a:prstGeom prst="rect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835140" y="1463040"/>
            <a:ext cx="1851660" cy="2011680"/>
          </a:xfrm>
          <a:prstGeom prst="roundRect">
            <a:avLst>
              <a:gd name="adj" fmla="val 3951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7018020" y="1645920"/>
            <a:ext cx="457200" cy="45720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2320" y="176022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80860" y="2148840"/>
            <a:ext cx="17602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880860" y="2423160"/>
            <a:ext cx="17602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accessories; pursue select retail &amp; wholesale partners.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Direct‑to‑consumer via Shopify; Kickstarter for validation</a:t>
            </a:r>
            <a:endParaRPr lang="en-US" sz="12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ads &amp; SEO; email &amp; content marketing</a:t>
            </a:r>
            <a:endParaRPr lang="en-US" sz="12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partnerships and user‑generated content</a:t>
            </a:r>
            <a:endParaRPr lang="en-US" sz="12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events, pet fairs &amp; community engagement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274320" y="47777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&amp; Flexible Operations
</a:t>
            </a:r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small‑batch domestic production for oversight and quality.  Evaluate overseas options as volume grows, considering tariffs and lead times.  Maintain a nimble supply chain with multiple vendors and a strict QC process.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94560"/>
          <a:ext cx="8229600" cy="164592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188720"/>
                <a:gridCol w="1188720"/>
                <a:gridCol w="1188720"/>
                <a:gridCol w="1280160"/>
                <a:gridCol w="118872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Period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Months 1–2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Months 3–4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 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 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Months 7–8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Months 9–12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Milestones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Research &amp;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planning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Design &amp;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prototype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Finalize design &amp;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prep tooling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Launch &amp;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crowdfunding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Fulfil orders &amp;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gather feedback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Scale production &amp;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expand line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777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852160" y="137160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Assumptions:
</a:t>
            </a:r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 1: 150 WasteWell systems sold (AOV ~$250)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 2: 350 systems + PetPost &amp; MarkMate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 3: 700 systems &amp; full product lineup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figures exclude taxes &amp; shipping; profits reinvested into growth.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4320" y="47777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Next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380" y="166878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
</a:t>
            </a:r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 – Seasoned B2B sales professional passionate about design &amp; pets.  Skilled in networking, communication and building customer relationships.  Seeking to bring a beautiful new category to life.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8328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3566160" y="1554480"/>
            <a:ext cx="365760" cy="36576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0460" y="166878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192024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 &amp; Partners
</a:t>
            </a:r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 co‑founders, product designers &amp; digital marketing experts to help scale.  Building a network of pet‑loving ambassadors and investors.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309360" y="137160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6492240" y="1554480"/>
            <a:ext cx="365760" cy="365760"/>
          </a:xfrm>
          <a:prstGeom prst="ellipse">
            <a:avLst/>
          </a:prstGeom>
          <a:solidFill>
            <a:srgbClr val="1F6BBA"/>
          </a:solidFill>
          <a:ln w="12700">
            <a:solidFill>
              <a:srgbClr val="1F6BB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6540" y="16687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192024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Journey
</a:t>
            </a:r>
            <a:pPr indent="0" marL="0">
              <a:buNone/>
            </a:pPr>
            <a:r>
              <a:rPr lang="en-US" sz="1200" dirty="0">
                <a:solidFill>
                  <a:srgbClr val="00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seed capital &amp; strategic guidance to fund tooling, initial runs and marketing.  Get in early on the next big thing in pet care.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74320" y="47777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2025-07-18T18:15:41Z</dcterms:created>
  <dcterms:modified xsi:type="dcterms:W3CDTF">2025-07-18T18:15:41Z</dcterms:modified>
</cp:coreProperties>
</file>